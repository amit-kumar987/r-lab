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25" r:id="rId5"/>
    <p:sldId id="326" r:id="rId6"/>
    <p:sldId id="341" r:id="rId7"/>
    <p:sldId id="259" r:id="rId8"/>
    <p:sldId id="257" r:id="rId9"/>
    <p:sldId id="261" r:id="rId10"/>
    <p:sldId id="258" r:id="rId11"/>
    <p:sldId id="342" r:id="rId12"/>
    <p:sldId id="263" r:id="rId13"/>
    <p:sldId id="264" r:id="rId14"/>
    <p:sldId id="265" r:id="rId15"/>
    <p:sldId id="34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40" autoAdjust="0"/>
  </p:normalViewPr>
  <p:slideViewPr>
    <p:cSldViewPr snapToGrid="0">
      <p:cViewPr>
        <p:scale>
          <a:sx n="66" d="100"/>
          <a:sy n="66" d="100"/>
        </p:scale>
        <p:origin x="-668" y="-32"/>
      </p:cViewPr>
      <p:guideLst>
        <p:guide orient="horz" pos="384"/>
        <p:guide pos="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24-Apr-26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24-Apr-26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xmlns="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xmlns="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xmlns="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xmlns="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xmlns="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xmlns="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xmlns="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xmlns="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4023360"/>
          </a:xfrm>
        </p:spPr>
        <p:txBody>
          <a:bodyPr/>
          <a:lstStyle/>
          <a:p>
            <a:r>
              <a:rPr lang="en-US" dirty="0"/>
              <a:t>Impact of AI in Student Life: 2026 Insights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xmlns="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3255"/>
            <a:ext cx="9144000" cy="78606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Analyzing Trends, Usage Patterns, and Ethical Risks in Higher Education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xmlns="" id="{39108022-ABA5-4873-B6D7-686EF3EB669A}"/>
              </a:ext>
            </a:extLst>
          </p:cNvPr>
          <p:cNvSpPr txBox="1">
            <a:spLocks/>
          </p:cNvSpPr>
          <p:nvPr/>
        </p:nvSpPr>
        <p:spPr>
          <a:xfrm>
            <a:off x="1524000" y="5747887"/>
            <a:ext cx="9144000" cy="7860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2400" b="0" i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Presenter:</a:t>
            </a:r>
            <a:r>
              <a:rPr lang="en-IN" dirty="0"/>
              <a:t> [Gautam ,Amit ,Shivam]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815840" cy="347472"/>
          </a:xfrm>
        </p:spPr>
        <p:txBody>
          <a:bodyPr/>
          <a:lstStyle/>
          <a:p>
            <a:r>
              <a:rPr lang="en-IN" dirty="0"/>
              <a:t>Project Objective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C7733382-03D3-526D-0F0A-B0F9829A5000}"/>
              </a:ext>
            </a:extLst>
          </p:cNvPr>
          <p:cNvSpPr txBox="1">
            <a:spLocks/>
          </p:cNvSpPr>
          <p:nvPr/>
        </p:nvSpPr>
        <p:spPr>
          <a:xfrm>
            <a:off x="1280160" y="2024691"/>
            <a:ext cx="5457524" cy="40068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r>
              <a:rPr lang="en-US" sz="2000" b="1" dirty="0"/>
              <a:t>Purpose</a:t>
            </a:r>
            <a:r>
              <a:rPr lang="en-US" sz="2000" b="1" dirty="0">
                <a:latin typeface="+mn-lt"/>
              </a:rPr>
              <a:t>:</a:t>
            </a:r>
            <a:r>
              <a:rPr lang="en-US" sz="2000" dirty="0">
                <a:latin typeface="+mn-lt"/>
              </a:rPr>
              <a:t> To visualize the rapid integration of Generative AI within student academic workflows.</a:t>
            </a:r>
          </a:p>
          <a:p>
            <a:r>
              <a:rPr lang="en-US" sz="2000" b="1" dirty="0"/>
              <a:t>Key Goals:</a:t>
            </a:r>
            <a:endParaRPr lang="en-US" sz="2000" dirty="0"/>
          </a:p>
          <a:p>
            <a:pPr lvl="1"/>
            <a:r>
              <a:rPr lang="en-US" sz="2000" dirty="0"/>
              <a:t>Track the </a:t>
            </a:r>
            <a:r>
              <a:rPr lang="en-US" sz="2000" b="1" dirty="0"/>
              <a:t>adoption rate</a:t>
            </a:r>
            <a:r>
              <a:rPr lang="en-US" sz="2000" dirty="0"/>
              <a:t> from 2024 to 2026.</a:t>
            </a:r>
          </a:p>
          <a:p>
            <a:pPr lvl="1"/>
            <a:r>
              <a:rPr lang="en-US" sz="2000" dirty="0"/>
              <a:t>Identify </a:t>
            </a:r>
            <a:r>
              <a:rPr lang="en-US" sz="2000" b="1" dirty="0"/>
              <a:t>primary use cases</a:t>
            </a:r>
            <a:r>
              <a:rPr lang="en-US" sz="2000" dirty="0"/>
              <a:t> ranging from concept explanation to wellbeing.</a:t>
            </a:r>
          </a:p>
          <a:p>
            <a:pPr lvl="1"/>
            <a:r>
              <a:rPr lang="en-US" sz="2000" dirty="0"/>
              <a:t>Highlight the </a:t>
            </a:r>
            <a:r>
              <a:rPr lang="en-US" sz="2000" b="1" dirty="0"/>
              <a:t>institutional gap</a:t>
            </a:r>
            <a:r>
              <a:rPr lang="en-US" sz="2000" dirty="0"/>
              <a:t> between student usage and formal policy/training.</a:t>
            </a:r>
          </a:p>
          <a:p>
            <a:pPr lvl="1"/>
            <a:r>
              <a:rPr lang="en-US" sz="2000" dirty="0"/>
              <a:t>Assess </a:t>
            </a:r>
            <a:r>
              <a:rPr lang="en-US" sz="2000" b="1" dirty="0"/>
              <a:t>ethical risks</a:t>
            </a:r>
            <a:r>
              <a:rPr lang="en-US" sz="2000" dirty="0"/>
              <a:t>, including the "Shadow Literacy" divide and fear of false accusations.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1097279"/>
            <a:ext cx="9278755" cy="510140"/>
          </a:xfrm>
        </p:spPr>
        <p:txBody>
          <a:bodyPr/>
          <a:lstStyle/>
          <a:p>
            <a:r>
              <a:rPr lang="en-US" sz="2800" dirty="0"/>
              <a:t>📌 </a:t>
            </a:r>
            <a:r>
              <a:rPr lang="en-US" sz="2800" b="1" dirty="0"/>
              <a:t>Problem Statement &amp; Objectives</a:t>
            </a:r>
            <a:endParaRPr lang="en-US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C7733382-03D3-526D-0F0A-B0F9829A5000}"/>
              </a:ext>
            </a:extLst>
          </p:cNvPr>
          <p:cNvSpPr txBox="1">
            <a:spLocks/>
          </p:cNvSpPr>
          <p:nvPr/>
        </p:nvSpPr>
        <p:spPr>
          <a:xfrm>
            <a:off x="991402" y="1812935"/>
            <a:ext cx="4523874" cy="44242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r>
              <a:rPr lang="en-US" sz="2000" b="1" dirty="0" smtClean="0"/>
              <a:t> </a:t>
            </a:r>
            <a:r>
              <a:rPr lang="en-US" sz="2000" b="1" u="sng" dirty="0"/>
              <a:t>Problem Statement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Rapid growth of Generative AI in student life (95% adoption by 2026)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Gap between </a:t>
            </a:r>
            <a:r>
              <a:rPr lang="en-US" sz="2000" b="1" dirty="0"/>
              <a:t>student usage</a:t>
            </a:r>
            <a:r>
              <a:rPr lang="en-US" sz="2000" dirty="0"/>
              <a:t> and </a:t>
            </a:r>
            <a:r>
              <a:rPr lang="en-US" sz="2000" b="1" dirty="0"/>
              <a:t>institutional readiness</a:t>
            </a:r>
            <a:r>
              <a:rPr lang="en-US" sz="2000" dirty="0"/>
              <a:t>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Lack of formal </a:t>
            </a:r>
            <a:r>
              <a:rPr lang="en-US" sz="2000" b="1" dirty="0"/>
              <a:t>training, policies, and AI literacy</a:t>
            </a:r>
            <a:r>
              <a:rPr lang="en-US" sz="2000" dirty="0"/>
              <a:t>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Rising concerns: </a:t>
            </a:r>
          </a:p>
          <a:p>
            <a:pPr marL="628650" lvl="1" indent="-171450">
              <a:buFont typeface="Courier New" pitchFamily="49" charset="0"/>
              <a:buChar char="o"/>
            </a:pPr>
            <a:r>
              <a:rPr lang="en-US" sz="1200" dirty="0"/>
              <a:t>Ethical issues (plagiarism, misuse) </a:t>
            </a:r>
          </a:p>
          <a:p>
            <a:pPr marL="628650" lvl="1" indent="-171450">
              <a:buFont typeface="Courier New" pitchFamily="49" charset="0"/>
              <a:buChar char="o"/>
            </a:pPr>
            <a:r>
              <a:rPr lang="en-US" sz="1200" dirty="0"/>
              <a:t>Fear of false accusations </a:t>
            </a:r>
          </a:p>
          <a:p>
            <a:pPr marL="628650" lvl="1" indent="-171450">
              <a:buFont typeface="Courier New" pitchFamily="49" charset="0"/>
              <a:buChar char="o"/>
            </a:pPr>
            <a:r>
              <a:rPr lang="en-US" sz="1200" dirty="0"/>
              <a:t>“Shadow Literacy Divide” (skill &amp; access gap)</a:t>
            </a:r>
          </a:p>
        </p:txBody>
      </p:sp>
    </p:spTree>
    <p:extLst>
      <p:ext uri="{BB962C8B-B14F-4D97-AF65-F5344CB8AC3E}">
        <p14:creationId xmlns:p14="http://schemas.microsoft.com/office/powerpoint/2010/main" val="3577765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Close up of bubbles">
            <a:extLst>
              <a:ext uri="{FF2B5EF4-FFF2-40B4-BE49-F238E27FC236}">
                <a16:creationId xmlns:a16="http://schemas.microsoft.com/office/drawing/2014/main" xmlns="" id="{99058E17-80B3-F3F9-AF6A-0518C39D94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6676" y="1029181"/>
            <a:ext cx="10515600" cy="1339115"/>
          </a:xfrm>
          <a:noFill/>
        </p:spPr>
        <p:txBody>
          <a:bodyPr anchor="ctr" anchorCtr="0">
            <a:noAutofit/>
          </a:bodyPr>
          <a:lstStyle/>
          <a:p>
            <a:r>
              <a:rPr lang="en-IN" sz="3200" dirty="0"/>
              <a:t>Technical Architecture (Libraries)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2550695"/>
            <a:ext cx="10515600" cy="3950689"/>
          </a:xfrm>
          <a:noFill/>
        </p:spPr>
        <p:txBody>
          <a:bodyPr>
            <a:normAutofit/>
          </a:bodyPr>
          <a:lstStyle/>
          <a:p>
            <a:r>
              <a:rPr lang="en-US" dirty="0"/>
              <a:t>To build this interactive analytical tool, the following R libraries were utilized: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shiny &amp; </a:t>
            </a:r>
            <a:r>
              <a:rPr lang="en-US" b="1" dirty="0" err="1"/>
              <a:t>shinydashboard</a:t>
            </a:r>
            <a:r>
              <a:rPr lang="en-US" b="1" dirty="0"/>
              <a:t>:</a:t>
            </a:r>
            <a:r>
              <a:rPr lang="en-US" dirty="0"/>
              <a:t> Core framework for the web interface and structured layout.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/>
              <a:t>plotly</a:t>
            </a:r>
            <a:r>
              <a:rPr lang="en-US" b="1" dirty="0"/>
              <a:t>:</a:t>
            </a:r>
            <a:r>
              <a:rPr lang="en-US" dirty="0"/>
              <a:t> For high-quality, interactive </a:t>
            </a:r>
            <a:r>
              <a:rPr lang="en-US" dirty="0" err="1"/>
              <a:t>Javascript</a:t>
            </a:r>
            <a:r>
              <a:rPr lang="en-US" dirty="0"/>
              <a:t>-based visualizations.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/>
              <a:t>tidyverse</a:t>
            </a:r>
            <a:r>
              <a:rPr lang="en-US" b="1" dirty="0"/>
              <a:t>:</a:t>
            </a:r>
            <a:r>
              <a:rPr lang="en-US" dirty="0"/>
              <a:t> Used for data manipulation, cleaning, and ggplot2 base logic.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/>
              <a:t>pacman</a:t>
            </a:r>
            <a:r>
              <a:rPr lang="en-US" b="1" dirty="0"/>
              <a:t>:</a:t>
            </a:r>
            <a:r>
              <a:rPr lang="en-US" dirty="0"/>
              <a:t> For streamlined dependency management and package loading.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DT &amp; </a:t>
            </a:r>
            <a:r>
              <a:rPr lang="en-US" b="1" dirty="0" err="1"/>
              <a:t>shinycssloaders</a:t>
            </a:r>
            <a:r>
              <a:rPr lang="en-US" b="1" dirty="0"/>
              <a:t>:</a:t>
            </a:r>
            <a:r>
              <a:rPr lang="en-US" dirty="0"/>
              <a:t> For interactive data tables and smooth loading animations.</a:t>
            </a:r>
          </a:p>
        </p:txBody>
      </p:sp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59" y="720213"/>
            <a:ext cx="10241280" cy="914400"/>
          </a:xfrm>
          <a:noFill/>
        </p:spPr>
        <p:txBody>
          <a:bodyPr anchor="b" anchorCtr="0"/>
          <a:lstStyle/>
          <a:p>
            <a:r>
              <a:rPr lang="en-IN" dirty="0"/>
              <a:t>Dashboard Overview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2638" y="5270051"/>
            <a:ext cx="8046720" cy="1413630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Key Metrics Displayed:</a:t>
            </a:r>
            <a:r>
              <a:rPr lang="en-US" dirty="0"/>
              <a:t> * </a:t>
            </a:r>
            <a:r>
              <a:rPr lang="en-US" b="1" dirty="0"/>
              <a:t>95%</a:t>
            </a:r>
            <a:r>
              <a:rPr lang="en-US" dirty="0"/>
              <a:t> Universal Adoption.</a:t>
            </a:r>
          </a:p>
          <a:p>
            <a:pPr lvl="1"/>
            <a:r>
              <a:rPr lang="en-US" b="1" dirty="0"/>
              <a:t>74%</a:t>
            </a:r>
            <a:r>
              <a:rPr lang="en-US" dirty="0"/>
              <a:t> Time Efficiency Gain.</a:t>
            </a:r>
          </a:p>
          <a:p>
            <a:pPr lvl="1"/>
            <a:r>
              <a:rPr lang="en-US" b="1" dirty="0"/>
              <a:t>36%</a:t>
            </a:r>
            <a:r>
              <a:rPr lang="en-US" dirty="0"/>
              <a:t> Formal Training Rate (indicating a significant literacy gap).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8C0146A-C93C-D993-5DD1-2F9C4DBBA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263" y="1507901"/>
            <a:ext cx="9409471" cy="357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876" y="428408"/>
            <a:ext cx="10884248" cy="593558"/>
          </a:xfrm>
          <a:noFill/>
        </p:spPr>
        <p:txBody>
          <a:bodyPr/>
          <a:lstStyle/>
          <a:p>
            <a:r>
              <a:rPr lang="en-US" dirty="0"/>
              <a:t>The Rise of AI Adoption (Graph Analysis)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133532D-D381-DC81-AE4B-99F85A1676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3876" y="1410964"/>
            <a:ext cx="7280756" cy="4036071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xmlns="" id="{7E751EDB-3568-D4D7-25C8-8BD7C9659C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22367" y="1342993"/>
            <a:ext cx="384873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Exponential Growth: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General usage jumped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66% in 2024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95% in 2026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Assessment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of AI specifically for assessments followed a similar trajectory, reaching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94%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is no longer a "niche tool"; it is now a fundamental utility for nearly every student.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FB1FD54-FA5E-D435-D57A-8C88025279A8}"/>
              </a:ext>
            </a:extLst>
          </p:cNvPr>
          <p:cNvSpPr txBox="1"/>
          <p:nvPr/>
        </p:nvSpPr>
        <p:spPr>
          <a:xfrm>
            <a:off x="3834063" y="5836033"/>
            <a:ext cx="2486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Courier New" panose="02070309020205020404" pitchFamily="49" charset="0"/>
              </a:rPr>
              <a:t>Adoption plot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272717"/>
            <a:ext cx="8229600" cy="673767"/>
          </a:xfrm>
          <a:noFill/>
        </p:spPr>
        <p:txBody>
          <a:bodyPr anchor="ctr" anchorCtr="0"/>
          <a:lstStyle/>
          <a:p>
            <a:r>
              <a:rPr lang="en-US" sz="2400" b="1" dirty="0"/>
              <a:t>Primary Use Cases &amp; Wellbeing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96" y="948884"/>
            <a:ext cx="6460189" cy="4768522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AF59B451-5DAD-3AF0-74C1-739DBF5C7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245" y="1903268"/>
            <a:ext cx="515210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Academic Tasks: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Explaining concepts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72%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Summarizing content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68%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lead the way.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Emerging Tools: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Companion Bots: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15% of students use AI to address loneliness.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24/7 Tutors: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is filling the gap for active recall and spaced repetition.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Transcription: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Shifting student focus from note-taking to active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" y="-1"/>
            <a:ext cx="12188122" cy="693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78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04" y="5615215"/>
            <a:ext cx="5416296" cy="920339"/>
          </a:xfrm>
          <a:noFill/>
        </p:spPr>
        <p:txBody>
          <a:bodyPr/>
          <a:lstStyle/>
          <a:p>
            <a:r>
              <a:rPr lang="en-IN" dirty="0"/>
              <a:t>Risks &amp; Ethical Gaps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E84FFC0-82F5-DF94-EB5A-B1821890B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20" y="398219"/>
            <a:ext cx="6548283" cy="5055721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xmlns="" id="{D41FF236-4703-1A2F-C160-3CA516268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6103" y="1937506"/>
            <a:ext cx="551589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Shadow Literacy Divide: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new socio-economic gap where high-income students use AI for "strategy," while others use it for "completion."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 Concerns: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Training: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64% of students feel institutions haven't provided enough guidance.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Fear of False Accusations: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53% of students worry about being wrongly flagged for plagiarism.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Lag: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10%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global institutions have binding AI guidelines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IN" dirty="0"/>
              <a:t>Key Results </a:t>
            </a:r>
            <a:endParaRPr lang="en-US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xmlns="" id="{204376C9-96D8-2E30-C4DA-B5ECED8C1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68" y="2147274"/>
            <a:ext cx="1095675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Students report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74% increase in time efficiency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particularly in research and drafting.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Accessibility: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has leveled the playing field for accessibility but created a new "skills gap" in high-level AI prompt strategy.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While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60.2%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daily sentiment is positive regarding efficiency, a significant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39.8%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remains anxious about institutional trust and dependency.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747562"/>
          </a:xfrm>
          <a:noFill/>
        </p:spPr>
        <p:txBody>
          <a:bodyPr anchor="t" anchorCtr="0"/>
          <a:lstStyle/>
          <a:p>
            <a:r>
              <a:rPr lang="en-IN" b="1" dirty="0"/>
              <a:t>Conclusion 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xmlns="" id="{CCEE51C5-0A3C-D16F-3B49-8E19855E2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160" y="1844842"/>
            <a:ext cx="925629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2026, AI adoption is near-universal (95%), but formal education is struggling to keep pace (36% training rate).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 to Action: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Institutions must move from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reactive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proactive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policy-making.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should shift from "detecting AI" to "teaching AI literacy."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Reducing the "Fear of False Accusations" is critical for student mental health and academic integrity.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{96202F87-6A08-4609-8F18-5FD67ED3BF4B}TF51de1e5f-e0e8-4dd0-99f3-5b7584f7abdc7d30e886_win32-78d4aef5ad8e</Template>
  <TotalTime>71</TotalTime>
  <Words>628</Words>
  <Application>Microsoft Office PowerPoint</Application>
  <PresentationFormat>Custom</PresentationFormat>
  <Paragraphs>56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Custom</vt:lpstr>
      <vt:lpstr>Impact of AI in Student Life: 2026 Insights</vt:lpstr>
      <vt:lpstr>Project Objective</vt:lpstr>
      <vt:lpstr>📌 Problem Statement &amp; Objectives</vt:lpstr>
      <vt:lpstr>Technical Architecture (Libraries)</vt:lpstr>
      <vt:lpstr>Dashboard Overview</vt:lpstr>
      <vt:lpstr>The Rise of AI Adoption (Graph Analysis)</vt:lpstr>
      <vt:lpstr>Primary Use Cases &amp; Wellbeing</vt:lpstr>
      <vt:lpstr>PowerPoint Presentation</vt:lpstr>
      <vt:lpstr>Risks &amp; Ethical Gaps</vt:lpstr>
      <vt:lpstr>Key Results </vt:lpstr>
      <vt:lpstr>Conclusion </vt:lpstr>
      <vt:lpstr>Thank you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AI in Student Life: 2026 Insights</dc:title>
  <dc:creator>Sundram kumar</dc:creator>
  <cp:lastModifiedBy>lenovo</cp:lastModifiedBy>
  <cp:revision>3</cp:revision>
  <dcterms:created xsi:type="dcterms:W3CDTF">2026-04-23T15:46:54Z</dcterms:created>
  <dcterms:modified xsi:type="dcterms:W3CDTF">2026-04-24T08:49:19Z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